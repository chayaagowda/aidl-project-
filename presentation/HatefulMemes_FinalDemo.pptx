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Hateful Meme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CCDDFF"/>
                </a:solidFill>
              </a:rPr>
              <a:t>Multimodal Classification: Text · Image · Fusion · CLIP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14800"/>
            <a:ext cx="237744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94560"/>
                </a:solidFill>
              </a:rPr>
              <a:t>Binary
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CC"/>
                </a:solidFill>
              </a:rPr>
              <a:t>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4114800"/>
            <a:ext cx="237744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42062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94560"/>
                </a:solidFill>
              </a:rPr>
              <a:t>12,887
Memes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5029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CC"/>
                </a:solidFill>
              </a:rPr>
              <a:t>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114800"/>
            <a:ext cx="237744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42062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94560"/>
                </a:solidFill>
              </a:rPr>
              <a:t>0.619
(BERT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029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CC"/>
                </a:solidFill>
              </a:rPr>
              <a:t>Best AUROC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4114800"/>
            <a:ext cx="237744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5400" y="42062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94560"/>
                </a:solidFill>
              </a:rPr>
              <a:t>4
Architectures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029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CC"/>
                </a:solidFill>
              </a:rPr>
              <a:t>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17920"/>
            <a:ext cx="10881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8888AA"/>
                </a:solidFill>
              </a:rPr>
              <a:t>Joshua Godwin, Chayasri Kirankumar, Bansari Yadav</a:t>
            </a:r>
            <a:endParaRPr sz="1400" b="0" dirty="0">
              <a:solidFill>
                <a:srgbClr val="8888A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Problem &amp; Task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</a:rPr>
              <a:t>What is a Hateful Meme?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  •  Memes combine image and text — each harmless alone, hateful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  •  Pure text models miss visual dog-whistles and irony.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99816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  •  Pure image models miss slurs and coded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58184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  •  Requires multimodal understanding to detect hate reliably.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1887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</a:rPr>
              <a:t>Task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389120" cy="841248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103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Image  +  Caption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788920"/>
            <a:ext cx="4389120" cy="841248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52360" y="28346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Hateful  (1)  /  Not hateful  (0)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794760"/>
            <a:ext cx="4389120" cy="841248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38404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Metric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AUROC  +  F1  + 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4800600"/>
            <a:ext cx="4389120" cy="1088136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52360" y="4846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limjiayi/hateful_memes_expanded
~12,887 train  |  1,040 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Data Exploration &amp; Key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389120" cy="33832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097280"/>
            <a:ext cx="438912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617720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84% not hateful — class imbalance suppresses F1 scores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56632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Short captions (avg ~9 words) but high semantic density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495544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Many hateful memes look benign without the paired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34456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→ Drove weighted loss &amp; AUROC as primary metric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Baseline — Text-Only BERT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2E"/>
                </a:solidFill>
              </a:rPr>
              <a:t>Why BERT as baseline?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  •  Meme captions are short but semantically 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  •  BERT captures context, sarcasm, and coded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  •  Strong NLP baseline before adding visual branch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2E"/>
                </a:solidFill>
              </a:rPr>
              <a:t>  •  Pre-trained on large corpus — works even on small datasets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097280"/>
            <a:ext cx="5943600" cy="292608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0" y="1234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94560"/>
                </a:solidFill>
              </a:rPr>
              <a:t>Input: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23444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Meme caption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737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94560"/>
                </a:solidFill>
              </a:rPr>
              <a:t>Tokeniser: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73736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BERT-base-uncased  (128 tokens)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240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94560"/>
                </a:solidFill>
              </a:rPr>
              <a:t>Encoder: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240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12-layer Transformer  →  [CLS]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43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94560"/>
                </a:solidFill>
              </a:rPr>
              <a:t>Classifier: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743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Linear(768 → 256 → 2)  +  Dropout(0.3)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46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94560"/>
                </a:solidFill>
              </a:rPr>
              <a:t>Params: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2461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109.7 M  trainable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206240"/>
            <a:ext cx="5943600" cy="242316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492240" y="4206240"/>
            <a:ext cx="5212080" cy="2423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0" y="4343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Baseline Result (Epoch 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9204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94560"/>
                </a:solidFill>
              </a:rPr>
              <a:t>0.619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440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ACC"/>
                </a:solidFill>
              </a:rPr>
              <a:t>AUROC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9204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94560"/>
                </a:solidFill>
              </a:rPr>
              <a:t>60.8%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5440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ACC"/>
                </a:solidFill>
              </a:rPr>
              <a:t>Accuracy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89204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94560"/>
                </a:solidFill>
              </a:rPr>
              <a:t>0.399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5440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ACC"/>
                </a:solidFill>
              </a:rPr>
              <a:t>F1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Four Architectures Compared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2743200" cy="5212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2743200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15568"/>
            <a:ext cx="2743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Text
(BERT)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2E"/>
                </a:solidFill>
              </a:rPr>
              <a:t>BERT-base
→ [CLS] →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109.7M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Text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1097280"/>
            <a:ext cx="2743200" cy="5212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64408" y="1097280"/>
            <a:ext cx="2743200" cy="566928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64408" y="1115568"/>
            <a:ext cx="2743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Image
(ResNet18)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2E"/>
                </a:solidFill>
              </a:rPr>
              <a:t>ResNet18
→ Pool → MLP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11.3M params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3657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Image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097280"/>
            <a:ext cx="2743200" cy="5212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08776" y="1097280"/>
            <a:ext cx="2743200" cy="56692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08776" y="1115568"/>
            <a:ext cx="2743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Fusion
(BERT+ResNet)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2E"/>
                </a:solidFill>
              </a:rPr>
              <a:t>BERT + ResNet18
→ Concat → MLP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121M params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Text + Image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53144" y="1097280"/>
            <a:ext cx="2743200" cy="5212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153144" y="1097280"/>
            <a:ext cx="2743200" cy="566928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53144" y="1115568"/>
            <a:ext cx="2743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CLIP
(frozen)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1874519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2E"/>
                </a:solidFill>
              </a:rPr>
              <a:t>CLIP ViT-B/32
→ Fused → MLP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584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Frozen encoder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36576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Text + Image
(joint embedding)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Training Progress — Validation AUROC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8412480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869680" y="1371600"/>
            <a:ext cx="2971800" cy="118872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06840" y="146304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Text &amp; Fusion converge fast (epoch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2788920"/>
            <a:ext cx="2971800" cy="118872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88036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CLIP improves steadily — still learning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4206240"/>
            <a:ext cx="2971800" cy="1188720"/>
          </a:xfrm>
          <a:prstGeom prst="rect">
            <a:avLst/>
          </a:prstGeom>
          <a:solidFill>
            <a:srgbClr val="F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06840" y="429768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Image barely exceeds random (0.508)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Overfitting Analysis — Train vs Val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05156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349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Text &amp; Fusion: train loss drops fast → val loss climbs → overfitting after epoch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CLIP &amp; Image: loss barely moves — too little signal or encoder frozen too aggressively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Final Results — All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961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326880" y="1371600"/>
            <a:ext cx="256032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94560"/>
                </a:solidFill>
              </a:rPr>
              <a:t>0.619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0299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CC"/>
                </a:solidFill>
              </a:rPr>
              <a:t>Best AUROC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2677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Text (BERT)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2834640"/>
            <a:ext cx="256032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0" y="29260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94560"/>
                </a:solidFill>
              </a:rPr>
              <a:t>60.9%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4930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CC"/>
                </a:solidFill>
              </a:rPr>
              <a:t>Best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7307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4297680"/>
            <a:ext cx="2560320" cy="1188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0" y="4389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94560"/>
                </a:solidFill>
              </a:rPr>
              <a:t>0.411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956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CC"/>
                </a:solidFill>
              </a:rPr>
              <a:t>Best 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51937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What Worked &amp; What Didn't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669280" cy="53035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1051560"/>
            <a:ext cx="5669280" cy="53035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744"/>
                </a:solidFill>
              </a:rPr>
              <a:t>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09728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C2222"/>
                </a:solidFill>
              </a:rPr>
              <a:t>Didn't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4422"/>
                </a:solidFill>
              </a:rPr>
              <a:t>  ✓  BERT text encoder captured sarcasm, slurs, and coded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8892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4422"/>
                </a:solidFill>
              </a:rPr>
              <a:t>  ✓  AUROC as metric handled class imbalance better than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84048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4422"/>
                </a:solidFill>
              </a:rPr>
              <a:t>  ✓  Fusion slightly improved F1 (0.399 → 0.411) over text-only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8920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14422"/>
                </a:solidFill>
              </a:rPr>
              <a:t>  ✓  ResNet18 downloaded &amp; fine-tuned without issues on CPU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71111"/>
                </a:solidFill>
              </a:rPr>
              <a:t>  ✗  Image model near-random — visual features alone carry almost no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8892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71111"/>
                </a:solidFill>
              </a:rPr>
              <a:t>  ✗  Frozen CLIP encoder: F1 ≈ 0 for 3 epochs, model predicted all non-hateful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71111"/>
                </a:solidFill>
              </a:rPr>
              <a:t>  ✗  Fusion overfits severely — val loss hits 1.048 by epoch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920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71111"/>
                </a:solidFill>
              </a:rPr>
              <a:t>  ✗  No early stopping — all models trained past their best checkpoint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Error Analysis &amp;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</a:rPr>
              <a:t>Where models fail: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669280" cy="960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94560"/>
                </a:solidFill>
              </a:rPr>
              <a:t>Low recall on hateful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7568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Class imbalance (84/16 split) → model defaults to 'not hateful'. F1 suppressed.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5669280" cy="960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94560"/>
                </a:solidFill>
              </a:rPr>
              <a:t>Cultural / contextual 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7296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Memes relying on shared cultural knowledge that BERT's pretraining didn't cover.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5669280" cy="960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9319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94560"/>
                </a:solidFill>
              </a:rPr>
              <a:t>Image-dependent hate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7024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Captions that are benign but paired with hateful imagery — text models miss these.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83480"/>
            <a:ext cx="5669280" cy="960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94560"/>
                </a:solidFill>
              </a:rPr>
              <a:t>CLIP collapse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675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Frozen encoder + tiny classifier head = model never commits to positive class.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</a:rPr>
              <a:t>Pipeline Limitations: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69164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CPU-only training — severely limits model size &amp; epochs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5603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No early stopping — overfitting undetected during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2900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Missing ~500 images from expanded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9768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No hyperparameter search (fixed LR, batch, dropout)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16636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  •  Evaluation on validation only — test set unused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What We'd Try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1521440" cy="91440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164592" cy="9144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Unfreeze CLIP's last 2–3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17904"/>
            <a:ext cx="8046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The frozen encoder is the bottleneck. Partial fine-tuning would unlock the joint embedding for this task.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298448"/>
            <a:ext cx="2743200" cy="512064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0" y="129844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High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48840"/>
            <a:ext cx="11521440" cy="91440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2148840"/>
            <a:ext cx="164592" cy="914400"/>
          </a:xfrm>
          <a:prstGeom prst="rect">
            <a:avLst/>
          </a:prstGeom>
          <a:solidFill>
            <a:srgbClr val="00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18541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Add early stopping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9464"/>
            <a:ext cx="8046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Text and fusion best checkpoints are epoch 1–2. Early stopping recovers this automatically.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2350008"/>
            <a:ext cx="2743200" cy="512064"/>
          </a:xfrm>
          <a:prstGeom prst="rect">
            <a:avLst/>
          </a:prstGeom>
          <a:solidFill>
            <a:srgbClr val="00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0" y="235000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Easy win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00400"/>
            <a:ext cx="11521440" cy="91440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3200400"/>
            <a:ext cx="164592" cy="914400"/>
          </a:xfrm>
          <a:prstGeom prst="rect">
            <a:avLst/>
          </a:prstGeom>
          <a:solidFill>
            <a:srgbClr val="00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3697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Weighted loss / oversampling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21024"/>
            <a:ext cx="8046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Address the 84/16 imbalance directly — expected to improve recall and F1 significantly.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3401568"/>
            <a:ext cx="2743200" cy="512064"/>
          </a:xfrm>
          <a:prstGeom prst="rect">
            <a:avLst/>
          </a:prstGeom>
          <a:solidFill>
            <a:srgbClr val="00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0" y="340156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Easy win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251960"/>
            <a:ext cx="11521440" cy="91440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4251960"/>
            <a:ext cx="164592" cy="914400"/>
          </a:xfrm>
          <a:prstGeom prst="rect">
            <a:avLst/>
          </a:prstGeom>
          <a:solidFill>
            <a:srgbClr val="E9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428853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Freeze image encoder in fusion (first 2 epochs)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672584"/>
            <a:ext cx="8046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Train the classifier head first, then unfreeze. Prevents image branch from drowning text signal.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453128"/>
            <a:ext cx="2743200" cy="512064"/>
          </a:xfrm>
          <a:prstGeom prst="rect">
            <a:avLst/>
          </a:prstGeom>
          <a:solidFill>
            <a:srgbClr val="E9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69680" y="445312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Medium effort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303520"/>
            <a:ext cx="11521440" cy="91440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5303520"/>
            <a:ext cx="164592" cy="914400"/>
          </a:xfrm>
          <a:prstGeom prst="rect">
            <a:avLst/>
          </a:prstGeom>
          <a:solidFill>
            <a:srgbClr val="334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5340096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</a:rPr>
              <a:t>GPU training + larger batch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724144"/>
            <a:ext cx="8046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CPU limits throughput. A single GPU would reduce epoch time from hours to minutes.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5504688"/>
            <a:ext cx="2743200" cy="512064"/>
          </a:xfrm>
          <a:prstGeom prst="rect">
            <a:avLst/>
          </a:prstGeom>
          <a:solidFill>
            <a:srgbClr val="334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869680" y="550468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Infrastructure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88952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577840" cy="1828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3716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Language is the primary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CCEE"/>
                </a:solidFill>
              </a:rPr>
              <a:t>Text (BERT) achieves 0.619 AUROC — best of all four models.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011680"/>
            <a:ext cx="5577840" cy="1828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55080" y="2011680"/>
            <a:ext cx="13716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214884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Images alone carry almost no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7889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CCEE"/>
                </a:solidFill>
              </a:rPr>
              <a:t>ResNet18 barely beats random (0.508). Hate lives in the caption.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5577840" cy="1828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3716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Fusion adds noise, not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CCEE"/>
                </a:solidFill>
              </a:rPr>
              <a:t>Image branch hurts fusion's AUROC slightly and causes severe overfitting.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4114800"/>
            <a:ext cx="5577840" cy="1828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55080" y="4114800"/>
            <a:ext cx="13716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42519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CLIP needs fine-tuning to contribute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89204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CCEE"/>
                </a:solidFill>
              </a:rPr>
              <a:t>Frozen encoder predicts one class for 3 epochs. Partial unfreeze is the fix.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10881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rgbClr val="667799"/>
                </a:solidFill>
              </a:rPr>
              <a:t>Joshua Godwin, Chayasri Kirankumar, Bansari Yadav</a:t>
            </a:r>
            <a:endParaRPr sz="1400" b="0" dirty="0">
              <a:solidFill>
                <a:srgbClr val="66779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909</Words>
  <Application>Microsoft Office PowerPoint</Application>
  <PresentationFormat>Custom</PresentationFormat>
  <Paragraphs>141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Joshua Godwin</cp:lastModifiedBy>
  <cp:revision>3</cp:revision>
  <dcterms:created xsi:type="dcterms:W3CDTF">2013-01-27T09:14:16Z</dcterms:created>
  <dcterms:modified xsi:type="dcterms:W3CDTF">2026-04-25T19:41:48Z</dcterms:modified>
  <cp:category/>
</cp:coreProperties>
</file>